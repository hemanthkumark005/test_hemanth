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4E55-5F91-C869-1703-E67086329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231BF-15B7-4E78-C14E-E988BF79C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71751-D9D0-A1D7-38CF-46ACD8C4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9F83-9B2E-9F32-545B-E98F3FAA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D8152-FDFA-7D45-71D5-17318CF1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57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ABF5-D07B-424C-1ACD-BC8C77AC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AA0F6-3E67-845B-216D-0E28F7E7E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F509-742A-8D9E-746D-42F7AFD4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F7375-ECA7-869C-E7A3-F315C41B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337D-EB54-9CA7-57F2-BACADFD5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8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9619-CCFB-9FFA-9CEA-C456DDE8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67511-A847-5984-BB4D-27A14A252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A2DEE-E21B-9B74-82F3-B5264542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43BE1-9B88-0308-0E03-3C6E087C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1CD2-4618-BE59-3B73-2B8580F0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7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0A18-8C83-5834-0C93-7C8597E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E218F-77AE-BCF4-2521-CEDB52A9A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2431E-D3D4-A333-3EFA-BD308EB1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271C0-00E2-4051-A341-585D44E4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3C35F-08D1-B4FA-4B1D-FBA77F0F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486CA-8A0A-03AD-F30D-653A44FC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9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E002-A0C9-EE47-29CA-7A496339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C8BB6-10E5-AE56-D848-F31E03D38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68741-A43D-AAEF-27A6-EB8E47905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847CA-4246-DCF3-5C4C-7354E762E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C5BC5-FF78-BAE5-74DB-80FB7956B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1F82D-38CC-BE57-BBC1-98500F15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B21E6-1DB4-3147-A6EB-B7D7071F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C2020-DFFC-C0B1-AEB7-EE8FEE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78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289B-FA8C-EC0E-EB30-1B1404C6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B0BCA-CBCF-39FA-F204-A52BE4A7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348CD-48B9-F1D6-3C9C-E8473134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3B032-0E8C-A9D9-7B2F-C79F5F9F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51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D450A-252D-221F-10FB-0A2A404D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0E5F1-7365-82E6-4EA3-54DB4D3C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56754-7B6C-AF02-FCF5-364EF0FAB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55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6167-9A07-6785-B37E-F2B489C9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FFB7-D8B2-7EFB-2EB3-DD28FB86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66258-712F-F391-8878-48D5E6604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F588D-7850-3ADD-480E-F28E1E35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E7C2E-1035-3653-071C-4DBA4BAC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8C592-C735-0A07-8FE6-1A8D8637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47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9C69-1B17-61A1-F2AF-7B5FDB59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19CB8-BE1E-03DF-B4F0-CAA07F05C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FB3EC-92B9-CA68-518A-E523480B7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0CC3B-39E5-CFFD-4498-BD277516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4414F-E9E7-FCAA-E352-AE75DC22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FF2FF-BD8F-E26C-41B6-78CD4D8D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7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B875-E094-ADE2-A7B2-E0C2519C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F0DEA-A12F-A9C1-F96A-EE86FDD51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16372-EBD9-F85E-30FC-5E9DA497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877F-5FD1-91AB-774B-FAC7463F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A34C3-7A11-4CA2-A2C1-205CC697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9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765BB0-52B6-91B6-17B2-EE4EAD84E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10B95-A615-3694-C0C8-93D0541AE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4E2CE-40AC-C11D-865F-329D6629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1E0B-249F-99D0-8BD4-66030FE2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96B68-FF0E-0B34-C674-5154E723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04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039E1-65ED-1BD8-EA02-A5B29E84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3263B-EE77-3DF5-B0FA-559414315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0BA9-F683-3586-744B-B0FAEACAE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F36C1-D1F1-4864-897B-99FFA7CEEBC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6F0B4-686A-79E2-B88D-C188DF1CA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66E9-1F61-004F-B5BC-E3B86B94B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36F48-ACB2-40B7-B370-0EFE4CA72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03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E2AFCF-3BE4-7946-0273-3805105A539C}"/>
              </a:ext>
            </a:extLst>
          </p:cNvPr>
          <p:cNvSpPr txBox="1"/>
          <p:nvPr/>
        </p:nvSpPr>
        <p:spPr>
          <a:xfrm>
            <a:off x="99391" y="178904"/>
            <a:ext cx="11966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AI-Powered Insights for Our Dashboard (POC)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59F5F-82B8-3200-AE0E-03A25BA8E643}"/>
              </a:ext>
            </a:extLst>
          </p:cNvPr>
          <p:cNvSpPr txBox="1"/>
          <p:nvPr/>
        </p:nvSpPr>
        <p:spPr>
          <a:xfrm>
            <a:off x="99391" y="106221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Adding a chatbot and automated reports on top of our existing Excel-based dashboard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D3D2F-E598-0E5C-9249-81C0F40D003B}"/>
              </a:ext>
            </a:extLst>
          </p:cNvPr>
          <p:cNvSpPr txBox="1"/>
          <p:nvPr/>
        </p:nvSpPr>
        <p:spPr>
          <a:xfrm>
            <a:off x="298174" y="1912199"/>
            <a:ext cx="326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Chatbot for Dashboard 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1B4DC-C3B7-5248-2BC7-3A3BC2F554DE}"/>
              </a:ext>
            </a:extLst>
          </p:cNvPr>
          <p:cNvSpPr txBox="1"/>
          <p:nvPr/>
        </p:nvSpPr>
        <p:spPr>
          <a:xfrm>
            <a:off x="4343400" y="1903052"/>
            <a:ext cx="326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Weekly Insight Generator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2E7E6-4241-669B-37F9-FE7B07B756CF}"/>
              </a:ext>
            </a:extLst>
          </p:cNvPr>
          <p:cNvSpPr txBox="1"/>
          <p:nvPr/>
        </p:nvSpPr>
        <p:spPr>
          <a:xfrm>
            <a:off x="8279296" y="1893905"/>
            <a:ext cx="326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Review Step for Accuracy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CC2D0-4A2F-4E44-5AC8-C169EC7D7BC1}"/>
              </a:ext>
            </a:extLst>
          </p:cNvPr>
          <p:cNvSpPr txBox="1"/>
          <p:nvPr/>
        </p:nvSpPr>
        <p:spPr>
          <a:xfrm>
            <a:off x="298174" y="3242770"/>
            <a:ext cx="32600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Users can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“What changed this week?”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“Which region performed best?”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“Why did this metric drop?”</a:t>
            </a:r>
          </a:p>
          <a:p>
            <a:endParaRPr lang="en-US" sz="1500" dirty="0"/>
          </a:p>
          <a:p>
            <a:r>
              <a:rPr lang="en-US" sz="1500" dirty="0"/>
              <a:t>The bot answers using </a:t>
            </a:r>
            <a:r>
              <a:rPr lang="en-US" sz="1500" b="1" dirty="0"/>
              <a:t>Excel data + metric definitions</a:t>
            </a:r>
            <a:r>
              <a:rPr lang="en-US" sz="15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00A30-0C21-CD48-F818-C86E13630512}"/>
              </a:ext>
            </a:extLst>
          </p:cNvPr>
          <p:cNvSpPr txBox="1"/>
          <p:nvPr/>
        </p:nvSpPr>
        <p:spPr>
          <a:xfrm>
            <a:off x="4465982" y="3242769"/>
            <a:ext cx="32600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 button to generate: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Executive-style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Key highlights &amp;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Downloadable </a:t>
            </a:r>
            <a:r>
              <a:rPr lang="en-US" sz="1500" b="1" dirty="0"/>
              <a:t>PDF / Word</a:t>
            </a:r>
            <a:r>
              <a:rPr lang="en-US" sz="1500" dirty="0"/>
              <a:t> report</a:t>
            </a:r>
          </a:p>
          <a:p>
            <a:endParaRPr lang="en-US" sz="1500" dirty="0"/>
          </a:p>
          <a:p>
            <a:r>
              <a:rPr lang="en-US" sz="1500" dirty="0"/>
              <a:t>Uses a pre-defined weekly template so outputs stay consistent and repeatable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9C7B0-246C-A714-329B-48A247D1512C}"/>
              </a:ext>
            </a:extLst>
          </p:cNvPr>
          <p:cNvSpPr txBox="1"/>
          <p:nvPr/>
        </p:nvSpPr>
        <p:spPr>
          <a:xfrm>
            <a:off x="8279296" y="3196942"/>
            <a:ext cx="32600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 simple AI-based check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Verify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Ensure summaries match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Avoid wrong or misleading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r>
              <a:rPr lang="en-US" sz="1500" dirty="0"/>
              <a:t>Acts as a lightweight QA gate before showing content to users or exporting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66045-BEBD-5B6F-059A-E976ED735288}"/>
              </a:ext>
            </a:extLst>
          </p:cNvPr>
          <p:cNvSpPr txBox="1"/>
          <p:nvPr/>
        </p:nvSpPr>
        <p:spPr>
          <a:xfrm>
            <a:off x="168965" y="607153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POC focuses on insight generation, usability and seamless integration with the existing dashboard</a:t>
            </a:r>
            <a:endParaRPr lang="en-IN" sz="2000" i="1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B974978-8960-34A2-CA77-66B9FC2A1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1491" y="2363702"/>
            <a:ext cx="533400" cy="533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7B945C0-481B-83AA-99F4-0FFD4EC60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6717" y="2363702"/>
            <a:ext cx="533400" cy="533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0D8B2F7-F577-EF07-DD28-0254D88301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1943" y="2363702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3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BB23F7-5653-7186-EDF5-B4B137B7A13D}"/>
              </a:ext>
            </a:extLst>
          </p:cNvPr>
          <p:cNvSpPr txBox="1"/>
          <p:nvPr/>
        </p:nvSpPr>
        <p:spPr>
          <a:xfrm>
            <a:off x="99391" y="178904"/>
            <a:ext cx="11966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AI-Powered Insights for Our Dashboard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2F46E-98E0-B821-50FC-EE8FCCF80A91}"/>
              </a:ext>
            </a:extLst>
          </p:cNvPr>
          <p:cNvSpPr txBox="1"/>
          <p:nvPr/>
        </p:nvSpPr>
        <p:spPr>
          <a:xfrm>
            <a:off x="99391" y="106221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Adding a chatbot and automated reports on top of our existing Excel-based dashboard</a:t>
            </a:r>
            <a:endParaRPr lang="en-IN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C46375-2F00-EB93-FE2D-65D5244483D3}"/>
              </a:ext>
            </a:extLst>
          </p:cNvPr>
          <p:cNvSpPr/>
          <p:nvPr/>
        </p:nvSpPr>
        <p:spPr>
          <a:xfrm>
            <a:off x="407504" y="3429000"/>
            <a:ext cx="1520687" cy="596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63CA24-4EC6-2A4B-2BA6-DC9854503EDF}"/>
              </a:ext>
            </a:extLst>
          </p:cNvPr>
          <p:cNvSpPr/>
          <p:nvPr/>
        </p:nvSpPr>
        <p:spPr>
          <a:xfrm>
            <a:off x="2743198" y="3428999"/>
            <a:ext cx="1520687" cy="596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API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A26F5F-571D-3001-0458-A431B1B7D428}"/>
              </a:ext>
            </a:extLst>
          </p:cNvPr>
          <p:cNvSpPr/>
          <p:nvPr/>
        </p:nvSpPr>
        <p:spPr>
          <a:xfrm>
            <a:off x="5078895" y="3429000"/>
            <a:ext cx="1520687" cy="596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Review Agent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164D56-E661-D339-AADD-D20AD3CAB6EB}"/>
              </a:ext>
            </a:extLst>
          </p:cNvPr>
          <p:cNvSpPr/>
          <p:nvPr/>
        </p:nvSpPr>
        <p:spPr>
          <a:xfrm>
            <a:off x="7692887" y="4403034"/>
            <a:ext cx="1520687" cy="596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 Agent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E2CC66-8121-F0BD-19C6-89A9AAC1BEDD}"/>
              </a:ext>
            </a:extLst>
          </p:cNvPr>
          <p:cNvSpPr/>
          <p:nvPr/>
        </p:nvSpPr>
        <p:spPr>
          <a:xfrm>
            <a:off x="7692887" y="2547288"/>
            <a:ext cx="1520687" cy="596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Query Agent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0F3309-722A-274C-DBDF-BF35A118E84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1928191" y="3727173"/>
            <a:ext cx="8150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A38298-10CA-D585-BBCE-BF82F9624B8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263885" y="3727173"/>
            <a:ext cx="8150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63B209-6579-79BF-F1C9-1C072425367E}"/>
              </a:ext>
            </a:extLst>
          </p:cNvPr>
          <p:cNvCxnSpPr>
            <a:stCxn id="8" idx="3"/>
          </p:cNvCxnSpPr>
          <p:nvPr/>
        </p:nvCxnSpPr>
        <p:spPr>
          <a:xfrm flipV="1">
            <a:off x="6599582" y="3727173"/>
            <a:ext cx="5665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643D9B-C4FD-F315-BB2A-B96EDC40D685}"/>
              </a:ext>
            </a:extLst>
          </p:cNvPr>
          <p:cNvCxnSpPr>
            <a:cxnSpLocks/>
          </p:cNvCxnSpPr>
          <p:nvPr/>
        </p:nvCxnSpPr>
        <p:spPr>
          <a:xfrm>
            <a:off x="7166113" y="2845461"/>
            <a:ext cx="0" cy="1855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31443F-034D-45B5-7CD7-D468AE0002A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166113" y="2845462"/>
            <a:ext cx="526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07BE2C-03B8-63BC-99C1-370EF690F7CF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166113" y="4701208"/>
            <a:ext cx="526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977EC03-7057-6608-6B7E-7D55D4F5F018}"/>
              </a:ext>
            </a:extLst>
          </p:cNvPr>
          <p:cNvSpPr txBox="1"/>
          <p:nvPr/>
        </p:nvSpPr>
        <p:spPr>
          <a:xfrm>
            <a:off x="439804" y="4244007"/>
            <a:ext cx="1488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dirty="0"/>
              <a:t>User / Button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3B9CA-A5B1-36CA-06F9-1714EA7546CA}"/>
              </a:ext>
            </a:extLst>
          </p:cNvPr>
          <p:cNvSpPr txBox="1"/>
          <p:nvPr/>
        </p:nvSpPr>
        <p:spPr>
          <a:xfrm>
            <a:off x="2566780" y="4244007"/>
            <a:ext cx="16971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triggers AI workflows</a:t>
            </a:r>
            <a:endParaRPr lang="en-IN" sz="15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C5439F-0840-A50E-27CC-C3DE13C9B843}"/>
              </a:ext>
            </a:extLst>
          </p:cNvPr>
          <p:cNvSpPr txBox="1"/>
          <p:nvPr/>
        </p:nvSpPr>
        <p:spPr>
          <a:xfrm>
            <a:off x="5078895" y="4221534"/>
            <a:ext cx="16971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dirty="0"/>
              <a:t>Checks accuracy &amp; consistency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02C1B8-453B-04CA-C8C2-4A35CE7022D9}"/>
              </a:ext>
            </a:extLst>
          </p:cNvPr>
          <p:cNvSpPr txBox="1"/>
          <p:nvPr/>
        </p:nvSpPr>
        <p:spPr>
          <a:xfrm>
            <a:off x="9365146" y="2509903"/>
            <a:ext cx="28268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Fetches required Excel data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Answers user questions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/>
              <a:t>Chat responses shown in the dashboard</a:t>
            </a:r>
            <a:endParaRPr lang="en-IN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948C40-A755-93D9-C16E-87B4DE6D95C3}"/>
              </a:ext>
            </a:extLst>
          </p:cNvPr>
          <p:cNvSpPr txBox="1"/>
          <p:nvPr/>
        </p:nvSpPr>
        <p:spPr>
          <a:xfrm>
            <a:off x="9448802" y="4445383"/>
            <a:ext cx="2617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Fetches required Excel data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Generates report content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/>
              <a:t>Weekly report downloadable as PDF / Word or sent via email</a:t>
            </a:r>
            <a:endParaRPr lang="en-IN" sz="14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947D683-CF56-72C9-DFEC-3873802445B0}"/>
              </a:ext>
            </a:extLst>
          </p:cNvPr>
          <p:cNvSpPr/>
          <p:nvPr/>
        </p:nvSpPr>
        <p:spPr>
          <a:xfrm>
            <a:off x="4671390" y="1727200"/>
            <a:ext cx="7394714" cy="37287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A0B868-69D4-4573-916F-B753332E201C}"/>
              </a:ext>
            </a:extLst>
          </p:cNvPr>
          <p:cNvSpPr txBox="1"/>
          <p:nvPr/>
        </p:nvSpPr>
        <p:spPr>
          <a:xfrm>
            <a:off x="6882847" y="1908887"/>
            <a:ext cx="354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Agentic Architecture</a:t>
            </a:r>
            <a:endParaRPr lang="en-IN" u="sn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92B886-A4BA-A0AA-34FD-C26B06FE00B4}"/>
              </a:ext>
            </a:extLst>
          </p:cNvPr>
          <p:cNvSpPr txBox="1"/>
          <p:nvPr/>
        </p:nvSpPr>
        <p:spPr>
          <a:xfrm>
            <a:off x="168965" y="607153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This solution highlights how AI can simplify analysis and accelerate insight generation for dashboard users.</a:t>
            </a:r>
          </a:p>
        </p:txBody>
      </p:sp>
    </p:spTree>
    <p:extLst>
      <p:ext uri="{BB962C8B-B14F-4D97-AF65-F5344CB8AC3E}">
        <p14:creationId xmlns:p14="http://schemas.microsoft.com/office/powerpoint/2010/main" val="32723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867765-4BD9-D99C-F91F-7B6522710383}"/>
              </a:ext>
            </a:extLst>
          </p:cNvPr>
          <p:cNvSpPr txBox="1"/>
          <p:nvPr/>
        </p:nvSpPr>
        <p:spPr>
          <a:xfrm>
            <a:off x="99391" y="178904"/>
            <a:ext cx="11966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AI-Powered Multilingual PDF Translation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3FC32-BD0B-2431-E793-50B6D9AD9003}"/>
              </a:ext>
            </a:extLst>
          </p:cNvPr>
          <p:cNvSpPr txBox="1"/>
          <p:nvPr/>
        </p:nvSpPr>
        <p:spPr>
          <a:xfrm>
            <a:off x="99391" y="106221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Translate PDFs across languages with layout-aware re-rendering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101EE-3A54-8A82-2A7F-0D18BE58F873}"/>
              </a:ext>
            </a:extLst>
          </p:cNvPr>
          <p:cNvSpPr txBox="1"/>
          <p:nvPr/>
        </p:nvSpPr>
        <p:spPr>
          <a:xfrm>
            <a:off x="99391" y="2438400"/>
            <a:ext cx="15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Input &amp; Prep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FBBD0-F246-4163-D830-670819577122}"/>
              </a:ext>
            </a:extLst>
          </p:cNvPr>
          <p:cNvSpPr txBox="1"/>
          <p:nvPr/>
        </p:nvSpPr>
        <p:spPr>
          <a:xfrm>
            <a:off x="2632958" y="2438400"/>
            <a:ext cx="1579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Layout Intelligence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F06BE-1802-2EC0-7F21-05177F45C5FC}"/>
              </a:ext>
            </a:extLst>
          </p:cNvPr>
          <p:cNvSpPr txBox="1"/>
          <p:nvPr/>
        </p:nvSpPr>
        <p:spPr>
          <a:xfrm>
            <a:off x="5166525" y="2438400"/>
            <a:ext cx="1579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Translation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55F95-C9DD-6771-E681-138C9D10B85C}"/>
              </a:ext>
            </a:extLst>
          </p:cNvPr>
          <p:cNvSpPr txBox="1"/>
          <p:nvPr/>
        </p:nvSpPr>
        <p:spPr>
          <a:xfrm>
            <a:off x="7700092" y="2438400"/>
            <a:ext cx="15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Re-Rendering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A751C-0CB6-4E08-26EB-3743E606B58A}"/>
              </a:ext>
            </a:extLst>
          </p:cNvPr>
          <p:cNvSpPr txBox="1"/>
          <p:nvPr/>
        </p:nvSpPr>
        <p:spPr>
          <a:xfrm>
            <a:off x="10233660" y="2438400"/>
            <a:ext cx="15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Output PDF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34671-3A2E-386B-3896-FEA19B87E99C}"/>
              </a:ext>
            </a:extLst>
          </p:cNvPr>
          <p:cNvSpPr txBox="1"/>
          <p:nvPr/>
        </p:nvSpPr>
        <p:spPr>
          <a:xfrm>
            <a:off x="0" y="3322298"/>
            <a:ext cx="20850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/>
              <a:t>User selects PDF + source &amp; target language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/>
              <a:t>Dynamic font embedding for target script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/>
              <a:t>Pages converted to normalized PIXMAP images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F6B014-99AD-49B7-71C7-353FAA4DB2D3}"/>
              </a:ext>
            </a:extLst>
          </p:cNvPr>
          <p:cNvSpPr txBox="1"/>
          <p:nvPr/>
        </p:nvSpPr>
        <p:spPr>
          <a:xfrm>
            <a:off x="2388262" y="3322298"/>
            <a:ext cx="20850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Vision model detects text blocks &amp;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Outputs bounding boxes, class IDs, and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Coordinates extracted for layout </a:t>
            </a:r>
            <a:r>
              <a:rPr lang="en-US" sz="1400" dirty="0" err="1"/>
              <a:t>mappingC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8811B1-867A-25D2-DBAE-EC06C8D21422}"/>
              </a:ext>
            </a:extLst>
          </p:cNvPr>
          <p:cNvSpPr txBox="1"/>
          <p:nvPr/>
        </p:nvSpPr>
        <p:spPr>
          <a:xfrm>
            <a:off x="5130469" y="3322298"/>
            <a:ext cx="20850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Text blocks passed to Meta NLLB-200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Supports 200+ languages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Preserves semantic meaning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8D7F0F-76CF-9076-3220-CA7506181519}"/>
              </a:ext>
            </a:extLst>
          </p:cNvPr>
          <p:cNvSpPr txBox="1"/>
          <p:nvPr/>
        </p:nvSpPr>
        <p:spPr>
          <a:xfrm>
            <a:off x="7518731" y="3322298"/>
            <a:ext cx="20850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Translated text placed into original boxes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Layout and formatting preserved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Pages merged into final PDF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C9DEA8-D304-0C5A-1774-9A9044939CB0}"/>
              </a:ext>
            </a:extLst>
          </p:cNvPr>
          <p:cNvSpPr txBox="1"/>
          <p:nvPr/>
        </p:nvSpPr>
        <p:spPr>
          <a:xfrm>
            <a:off x="9981095" y="3322298"/>
            <a:ext cx="20850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Preserved document structure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Multilingual output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Fully automated pipeline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AEDCED-58BB-3BB9-1992-48B449BDDA55}"/>
              </a:ext>
            </a:extLst>
          </p:cNvPr>
          <p:cNvSpPr/>
          <p:nvPr/>
        </p:nvSpPr>
        <p:spPr>
          <a:xfrm>
            <a:off x="233680" y="1958056"/>
            <a:ext cx="11744960" cy="165384"/>
          </a:xfrm>
          <a:prstGeom prst="rightArrow">
            <a:avLst>
              <a:gd name="adj1" fmla="val 50000"/>
              <a:gd name="adj2" fmla="val 16437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9ED3BC-5FA4-1AA8-61F0-73EF91536F27}"/>
              </a:ext>
            </a:extLst>
          </p:cNvPr>
          <p:cNvCxnSpPr/>
          <p:nvPr/>
        </p:nvCxnSpPr>
        <p:spPr>
          <a:xfrm>
            <a:off x="2184400" y="2631440"/>
            <a:ext cx="0" cy="2997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300109C-0DCD-EECA-9839-AA72AC15785F}"/>
              </a:ext>
            </a:extLst>
          </p:cNvPr>
          <p:cNvCxnSpPr/>
          <p:nvPr/>
        </p:nvCxnSpPr>
        <p:spPr>
          <a:xfrm>
            <a:off x="4856480" y="2600960"/>
            <a:ext cx="0" cy="2997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0EFB284-5ADC-4D4D-1E83-77B1D33340BB}"/>
              </a:ext>
            </a:extLst>
          </p:cNvPr>
          <p:cNvCxnSpPr/>
          <p:nvPr/>
        </p:nvCxnSpPr>
        <p:spPr>
          <a:xfrm>
            <a:off x="7315200" y="2519680"/>
            <a:ext cx="0" cy="2997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E196F9-900E-1EE6-073F-BC02A84C05A3}"/>
              </a:ext>
            </a:extLst>
          </p:cNvPr>
          <p:cNvCxnSpPr/>
          <p:nvPr/>
        </p:nvCxnSpPr>
        <p:spPr>
          <a:xfrm>
            <a:off x="9784080" y="2438400"/>
            <a:ext cx="0" cy="2997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E96976-C341-53B3-51F0-731D87D6164B}"/>
              </a:ext>
            </a:extLst>
          </p:cNvPr>
          <p:cNvSpPr txBox="1"/>
          <p:nvPr/>
        </p:nvSpPr>
        <p:spPr>
          <a:xfrm>
            <a:off x="9579419" y="5563703"/>
            <a:ext cx="2399277" cy="101566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R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u="sng" dirty="0"/>
              <a:t>Limitations</a:t>
            </a:r>
          </a:p>
          <a:p>
            <a:pPr marL="285750" marR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/>
              <a:t>Text overflow/layout distortion</a:t>
            </a:r>
          </a:p>
          <a:p>
            <a:pPr marL="285750" marR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/>
              <a:t>Proper noun translation errors</a:t>
            </a:r>
          </a:p>
          <a:p>
            <a:pPr marL="285750" marR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/>
              <a:t>No OCR support for scanned PDFs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480C6D-30B7-904E-C2F3-4E366D84F13E}"/>
              </a:ext>
            </a:extLst>
          </p:cNvPr>
          <p:cNvSpPr txBox="1"/>
          <p:nvPr/>
        </p:nvSpPr>
        <p:spPr>
          <a:xfrm>
            <a:off x="168965" y="607153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Supports scalable batch translation for structured, digitally-native PDFs</a:t>
            </a:r>
          </a:p>
        </p:txBody>
      </p:sp>
    </p:spTree>
    <p:extLst>
      <p:ext uri="{BB962C8B-B14F-4D97-AF65-F5344CB8AC3E}">
        <p14:creationId xmlns:p14="http://schemas.microsoft.com/office/powerpoint/2010/main" val="325186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6C00B1-D906-C7F7-4DF9-A4A6BCA7B904}"/>
              </a:ext>
            </a:extLst>
          </p:cNvPr>
          <p:cNvSpPr txBox="1"/>
          <p:nvPr/>
        </p:nvSpPr>
        <p:spPr>
          <a:xfrm>
            <a:off x="99391" y="178904"/>
            <a:ext cx="11966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AI-Driven Compliance Validation for Model Audit Documentation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23D35-33FA-A2F1-226F-5E43A2B156C7}"/>
              </a:ext>
            </a:extLst>
          </p:cNvPr>
          <p:cNvSpPr txBox="1"/>
          <p:nvPr/>
        </p:nvSpPr>
        <p:spPr>
          <a:xfrm>
            <a:off x="99391" y="1062215"/>
            <a:ext cx="11251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Manual compliance reviews are slow, inconsistent, and expose the organization to regulatory risk.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CD47A-C10F-A66D-D859-37919598D413}"/>
              </a:ext>
            </a:extLst>
          </p:cNvPr>
          <p:cNvSpPr txBox="1"/>
          <p:nvPr/>
        </p:nvSpPr>
        <p:spPr>
          <a:xfrm>
            <a:off x="771191" y="1875675"/>
            <a:ext cx="53103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pPr marL="0" indent="0">
              <a:buNone/>
            </a:pPr>
            <a:r>
              <a:rPr lang="en-US" b="1" u="sng" dirty="0"/>
              <a:t>Solution</a:t>
            </a:r>
          </a:p>
          <a:p>
            <a:pPr marL="0" indent="0">
              <a:buNone/>
            </a:pPr>
            <a:endParaRPr lang="en-US" sz="1000" b="1" u="sng" dirty="0"/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AI-powered compliance engine</a:t>
            </a:r>
            <a:r>
              <a:rPr lang="en-US" dirty="0"/>
              <a:t> that reviews model audit documentation against regulatory expectations to identify gaps, weak explanations, and misalignment.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3E802-4501-A7BA-CEC0-2566431D88C6}"/>
              </a:ext>
            </a:extLst>
          </p:cNvPr>
          <p:cNvSpPr txBox="1"/>
          <p:nvPr/>
        </p:nvSpPr>
        <p:spPr>
          <a:xfrm>
            <a:off x="771191" y="3444281"/>
            <a:ext cx="531032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400" b="1"/>
            </a:lvl1pPr>
          </a:lstStyle>
          <a:p>
            <a:r>
              <a:rPr lang="en-US" u="sng" dirty="0"/>
              <a:t>Key Benefits</a:t>
            </a:r>
            <a:r>
              <a:rPr lang="en-US" dirty="0"/>
              <a:t> </a:t>
            </a:r>
          </a:p>
          <a:p>
            <a:endParaRPr lang="en-US" sz="1000" dirty="0"/>
          </a:p>
          <a:p>
            <a:r>
              <a:rPr lang="en-US" b="0" dirty="0"/>
              <a:t>Clear, defensible answers on compliance status, explanation quality, missing content, and regulatory impact.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1C6A1C-8462-470C-A2AA-C13E353C1BA8}"/>
              </a:ext>
            </a:extLst>
          </p:cNvPr>
          <p:cNvSpPr txBox="1"/>
          <p:nvPr/>
        </p:nvSpPr>
        <p:spPr>
          <a:xfrm>
            <a:off x="771191" y="4928965"/>
            <a:ext cx="53248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Business Value</a:t>
            </a:r>
          </a:p>
          <a:p>
            <a:endParaRPr lang="en-US" sz="1400" b="1" i="1" dirty="0"/>
          </a:p>
          <a:p>
            <a:r>
              <a:rPr lang="en-US" sz="1400" dirty="0"/>
              <a:t>Stronger regulatory confidence. Clearer audit narratives. Reduced rework.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F04F70-EA93-35D2-DA92-6B3704767836}"/>
              </a:ext>
            </a:extLst>
          </p:cNvPr>
          <p:cNvSpPr txBox="1"/>
          <p:nvPr/>
        </p:nvSpPr>
        <p:spPr>
          <a:xfrm>
            <a:off x="7056371" y="6065196"/>
            <a:ext cx="48846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i="1" dirty="0"/>
              <a:t>AI-powered compliance insight.</a:t>
            </a:r>
            <a:r>
              <a:rPr lang="en-US" sz="1500" i="1" dirty="0"/>
              <a:t> Human-led governance</a:t>
            </a:r>
            <a:endParaRPr lang="en-IN" sz="1500" i="1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F88860-2B7E-A49F-FA1D-7DF6AEC63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424" y="4372747"/>
            <a:ext cx="381000" cy="381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5FA9E9E-2375-4D90-E198-01A33438B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5225" y="3681581"/>
            <a:ext cx="381000" cy="381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3C74F7A-7084-D03E-B6E2-DCE4D384F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4424" y="2918200"/>
            <a:ext cx="381000" cy="381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4BB89A9-1A66-DCB3-9A6C-A05914313E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68241" y="3687415"/>
            <a:ext cx="381000" cy="381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360CE57-9664-9A4B-C1E8-C9B01774ABCE}"/>
              </a:ext>
            </a:extLst>
          </p:cNvPr>
          <p:cNvSpPr txBox="1"/>
          <p:nvPr/>
        </p:nvSpPr>
        <p:spPr>
          <a:xfrm>
            <a:off x="7056371" y="2404120"/>
            <a:ext cx="1697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Regulatory &amp; Compliance docs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EEDAF-263D-E3E2-8399-70C3C5C7FE07}"/>
              </a:ext>
            </a:extLst>
          </p:cNvPr>
          <p:cNvSpPr txBox="1"/>
          <p:nvPr/>
        </p:nvSpPr>
        <p:spPr>
          <a:xfrm>
            <a:off x="7056371" y="4796115"/>
            <a:ext cx="1697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Model audit report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755DD0-3C0A-458C-616C-6C8EB6D4AABF}"/>
              </a:ext>
            </a:extLst>
          </p:cNvPr>
          <p:cNvCxnSpPr/>
          <p:nvPr/>
        </p:nvCxnSpPr>
        <p:spPr>
          <a:xfrm>
            <a:off x="8289235" y="3071189"/>
            <a:ext cx="4642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84DC25-8106-6CBE-FFB5-B178A3EB53DB}"/>
              </a:ext>
            </a:extLst>
          </p:cNvPr>
          <p:cNvCxnSpPr/>
          <p:nvPr/>
        </p:nvCxnSpPr>
        <p:spPr>
          <a:xfrm>
            <a:off x="8289235" y="4525615"/>
            <a:ext cx="4642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33DC58-C9DD-B8FD-09E4-B34DCABB80CE}"/>
              </a:ext>
            </a:extLst>
          </p:cNvPr>
          <p:cNvCxnSpPr/>
          <p:nvPr/>
        </p:nvCxnSpPr>
        <p:spPr>
          <a:xfrm>
            <a:off x="8753476" y="3071189"/>
            <a:ext cx="0" cy="1454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53332E-BA74-1CF5-6EE0-D8350B164277}"/>
              </a:ext>
            </a:extLst>
          </p:cNvPr>
          <p:cNvCxnSpPr/>
          <p:nvPr/>
        </p:nvCxnSpPr>
        <p:spPr>
          <a:xfrm>
            <a:off x="8753476" y="3892968"/>
            <a:ext cx="420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B0C2664-0AB4-DE55-235C-D0F0E27E0293}"/>
              </a:ext>
            </a:extLst>
          </p:cNvPr>
          <p:cNvSpPr txBox="1"/>
          <p:nvPr/>
        </p:nvSpPr>
        <p:spPr>
          <a:xfrm>
            <a:off x="10320961" y="3278340"/>
            <a:ext cx="1012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LLM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753198-E776-5E71-145D-1CEBF283E5B3}"/>
              </a:ext>
            </a:extLst>
          </p:cNvPr>
          <p:cNvCxnSpPr/>
          <p:nvPr/>
        </p:nvCxnSpPr>
        <p:spPr>
          <a:xfrm>
            <a:off x="9829800" y="3872081"/>
            <a:ext cx="6062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6C8C126-17E3-D411-50ED-AADB47160363}"/>
              </a:ext>
            </a:extLst>
          </p:cNvPr>
          <p:cNvCxnSpPr/>
          <p:nvPr/>
        </p:nvCxnSpPr>
        <p:spPr>
          <a:xfrm>
            <a:off x="10835725" y="4263885"/>
            <a:ext cx="0" cy="48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14F9AD06-8052-939F-9F8A-C94D98724E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36940" y="4866788"/>
            <a:ext cx="381000" cy="381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25FBC04-CA06-0A3D-94AF-E9640AB7F605}"/>
              </a:ext>
            </a:extLst>
          </p:cNvPr>
          <p:cNvSpPr txBox="1"/>
          <p:nvPr/>
        </p:nvSpPr>
        <p:spPr>
          <a:xfrm>
            <a:off x="8959096" y="4079096"/>
            <a:ext cx="1012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Vector DB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8422C4-760C-2B58-0924-A7348257E359}"/>
              </a:ext>
            </a:extLst>
          </p:cNvPr>
          <p:cNvSpPr txBox="1"/>
          <p:nvPr/>
        </p:nvSpPr>
        <p:spPr>
          <a:xfrm>
            <a:off x="10319306" y="5378999"/>
            <a:ext cx="1012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AI generated report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BD5E821-EFC7-5DB4-A896-FD59CEC2AB12}"/>
              </a:ext>
            </a:extLst>
          </p:cNvPr>
          <p:cNvSpPr/>
          <p:nvPr/>
        </p:nvSpPr>
        <p:spPr>
          <a:xfrm>
            <a:off x="6745428" y="1898372"/>
            <a:ext cx="5363264" cy="3942292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06A29F-B28E-8A86-E1D9-4467ACB94374}"/>
              </a:ext>
            </a:extLst>
          </p:cNvPr>
          <p:cNvSpPr txBox="1"/>
          <p:nvPr/>
        </p:nvSpPr>
        <p:spPr>
          <a:xfrm>
            <a:off x="7567819" y="1910187"/>
            <a:ext cx="354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AI Architecture</a:t>
            </a:r>
            <a:endParaRPr lang="en-IN" u="sng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3853E2E-F2C6-89E5-0152-F53FE830F1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2887" y="1898372"/>
            <a:ext cx="396000" cy="396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96EDC8D-4BFC-3B86-8C38-AF1B9D0FA0B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2594" y="5004714"/>
            <a:ext cx="396000" cy="396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74777A67-4DCA-3CAE-F2C4-51444EB1E0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0871" y="3460476"/>
            <a:ext cx="396000" cy="39600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D10EAE-5DA8-2A24-401C-20555F51CCFF}"/>
              </a:ext>
            </a:extLst>
          </p:cNvPr>
          <p:cNvCxnSpPr/>
          <p:nvPr/>
        </p:nvCxnSpPr>
        <p:spPr>
          <a:xfrm>
            <a:off x="99391" y="3346620"/>
            <a:ext cx="63212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7641524-CCCC-9397-BCF8-BA3CC493E1D0}"/>
              </a:ext>
            </a:extLst>
          </p:cNvPr>
          <p:cNvCxnSpPr/>
          <p:nvPr/>
        </p:nvCxnSpPr>
        <p:spPr>
          <a:xfrm>
            <a:off x="99391" y="4826705"/>
            <a:ext cx="63212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1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447</Words>
  <Application>Microsoft Office PowerPoint</Application>
  <PresentationFormat>Widescreen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Hemanth</dc:creator>
  <cp:lastModifiedBy>Hemanth Hemanth</cp:lastModifiedBy>
  <cp:revision>2</cp:revision>
  <dcterms:created xsi:type="dcterms:W3CDTF">2026-01-19T17:53:49Z</dcterms:created>
  <dcterms:modified xsi:type="dcterms:W3CDTF">2026-01-21T16:02:11Z</dcterms:modified>
</cp:coreProperties>
</file>