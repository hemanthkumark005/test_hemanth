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173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04E55-5F91-C869-1703-E670863293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4231BF-15B7-4E78-C14E-E988BF79C5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71751-D9D0-A1D7-38CF-46ACD8C4C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F36C1-D1F1-4864-897B-99FFA7CEEBC0}" type="datetimeFigureOut">
              <a:rPr lang="en-IN" smtClean="0"/>
              <a:t>19-01-2026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AE9F83-9B2E-9F32-545B-E98F3FAA4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FD8152-FDFA-7D45-71D5-17318CF1B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336F48-ACB2-40B7-B370-0EFE4CA726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25761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EABF5-D07B-424C-1ACD-BC8C77AC5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1AA0F6-3E67-845B-216D-0E28F7E7E7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C7F509-742A-8D9E-746D-42F7AFD4C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F36C1-D1F1-4864-897B-99FFA7CEEBC0}" type="datetimeFigureOut">
              <a:rPr lang="en-IN" smtClean="0"/>
              <a:t>19-01-2026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4F7375-ECA7-869C-E7A3-F315C41B3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E0337D-EB54-9CA7-57F2-BACADFD53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336F48-ACB2-40B7-B370-0EFE4CA726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76896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99619-CCFB-9FFA-9CEA-C456DDE80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067511-A847-5984-BB4D-27A14A2524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1A2DEE-E21B-9B74-82F3-B5264542C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F36C1-D1F1-4864-897B-99FFA7CEEBC0}" type="datetimeFigureOut">
              <a:rPr lang="en-IN" smtClean="0"/>
              <a:t>19-01-2026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F43BE1-9B88-0308-0E03-3C6E087C9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FB1CD2-4618-BE59-3B73-2B8580F0A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336F48-ACB2-40B7-B370-0EFE4CA726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39472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70A18-8C83-5834-0C93-7C8597ED5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EE218F-77AE-BCF4-2521-CEDB52A9A7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32431E-D3D4-A333-3EFA-BD308EB11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9271C0-00E2-4051-A341-585D44E42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F36C1-D1F1-4864-897B-99FFA7CEEBC0}" type="datetimeFigureOut">
              <a:rPr lang="en-IN" smtClean="0"/>
              <a:t>19-01-2026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D3C35F-08D1-B4FA-4B1D-FBA77F0FBC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7486CA-8A0A-03AD-F30D-653A44FCE7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336F48-ACB2-40B7-B370-0EFE4CA726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89919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DE002-A0C9-EE47-29CA-7A496339C4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4C8BB6-10E5-AE56-D848-F31E03D389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B68741-A43D-AAEF-27A6-EB8E479055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6847CA-4246-DCF3-5C4C-7354E762E4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4C5BC5-FF78-BAE5-74DB-80FB7956B5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011F82D-38CC-BE57-BBC1-98500F152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F36C1-D1F1-4864-897B-99FFA7CEEBC0}" type="datetimeFigureOut">
              <a:rPr lang="en-IN" smtClean="0"/>
              <a:t>19-01-2026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E7B21E6-1DB4-3147-A6EB-B7D7071F9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4C2020-DFFC-C0B1-AEB7-EE8FEE16C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336F48-ACB2-40B7-B370-0EFE4CA726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28789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9289B-FA8C-EC0E-EB30-1B1404C65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FB0BCA-CBCF-39FA-F204-A52BE4A780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F36C1-D1F1-4864-897B-99FFA7CEEBC0}" type="datetimeFigureOut">
              <a:rPr lang="en-IN" smtClean="0"/>
              <a:t>19-01-2026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0348CD-48B9-F1D6-3C9C-E84731345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63B032-0E8C-A9D9-7B2F-C79F5F9F5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336F48-ACB2-40B7-B370-0EFE4CA726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90515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6D450A-252D-221F-10FB-0A2A404D4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F36C1-D1F1-4864-897B-99FFA7CEEBC0}" type="datetimeFigureOut">
              <a:rPr lang="en-IN" smtClean="0"/>
              <a:t>19-01-2026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90E5F1-7365-82E6-4EA3-54DB4D3CC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D56754-7B6C-AF02-FCF5-364EF0FAB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336F48-ACB2-40B7-B370-0EFE4CA726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68550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D6167-9A07-6785-B37E-F2B489C96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4FFB7-D8B2-7EFB-2EB3-DD28FB8665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666258-712F-F391-8878-48D5E66045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6F588D-7850-3ADD-480E-F28E1E351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F36C1-D1F1-4864-897B-99FFA7CEEBC0}" type="datetimeFigureOut">
              <a:rPr lang="en-IN" smtClean="0"/>
              <a:t>19-01-2026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2E7C2E-1035-3653-071C-4DBA4BAC4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78C592-C735-0A07-8FE6-1A8D8637C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336F48-ACB2-40B7-B370-0EFE4CA726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44757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99C69-1B17-61A1-F2AF-7B5FDB5900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B19CB8-BE1E-03DF-B4F0-CAA07F05C8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AFB3EC-92B9-CA68-518A-E523480B7F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60CC3B-39E5-CFFD-4498-BD277516F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F36C1-D1F1-4864-897B-99FFA7CEEBC0}" type="datetimeFigureOut">
              <a:rPr lang="en-IN" smtClean="0"/>
              <a:t>19-01-2026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54414F-E9E7-FCAA-E352-AE75DC221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7FF2FF-BD8F-E26C-41B6-78CD4D8DB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336F48-ACB2-40B7-B370-0EFE4CA726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87788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BB875-E094-ADE2-A7B2-E0C2519CB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FF0DEA-A12F-A9C1-F96A-EE86FDD516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016372-EBD9-F85E-30FC-5E9DA497B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F36C1-D1F1-4864-897B-99FFA7CEEBC0}" type="datetimeFigureOut">
              <a:rPr lang="en-IN" smtClean="0"/>
              <a:t>19-01-2026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9B877F-5FD1-91AB-774B-FAC7463F2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0A34C3-7A11-4CA2-A2C1-205CC697C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336F48-ACB2-40B7-B370-0EFE4CA726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03912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765BB0-52B6-91B6-17B2-EE4EAD84EF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B10B95-A615-3694-C0C8-93D0541AE5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F4E2CE-40AC-C11D-865F-329D6629F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F36C1-D1F1-4864-897B-99FFA7CEEBC0}" type="datetimeFigureOut">
              <a:rPr lang="en-IN" smtClean="0"/>
              <a:t>19-01-2026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11E0B-249F-99D0-8BD4-66030FE24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796B68-FF0E-0B34-C674-5154E7233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336F48-ACB2-40B7-B370-0EFE4CA726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80487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2039E1-65ED-1BD8-EA02-A5B29E84D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53263B-EE77-3DF5-B0FA-5594143157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B60BA9-F683-3586-744B-B0FAEACAEA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6F36C1-D1F1-4864-897B-99FFA7CEEBC0}" type="datetimeFigureOut">
              <a:rPr lang="en-IN" smtClean="0"/>
              <a:t>19-01-2026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86F0B4-686A-79E2-B88D-C188DF1CAB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7C66E9-1F61-004F-B5BC-E3B86B94B7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336F48-ACB2-40B7-B370-0EFE4CA726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670337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2E2AFCF-3BE4-7946-0273-3805105A539C}"/>
              </a:ext>
            </a:extLst>
          </p:cNvPr>
          <p:cNvSpPr txBox="1"/>
          <p:nvPr/>
        </p:nvSpPr>
        <p:spPr>
          <a:xfrm>
            <a:off x="99391" y="178904"/>
            <a:ext cx="119667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AI-Powered Insights for Our Dashboard (POC)</a:t>
            </a:r>
            <a:endParaRPr lang="en-IN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859F5F-82B8-3200-AE0E-03A25BA8E643}"/>
              </a:ext>
            </a:extLst>
          </p:cNvPr>
          <p:cNvSpPr txBox="1"/>
          <p:nvPr/>
        </p:nvSpPr>
        <p:spPr>
          <a:xfrm>
            <a:off x="99391" y="1062215"/>
            <a:ext cx="112510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Adding a chatbot and automated reports on top of our existing Excel-based dashboard</a:t>
            </a:r>
            <a:endParaRPr lang="en-IN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2D3D2F-E598-0E5C-9249-81C0F40D003B}"/>
              </a:ext>
            </a:extLst>
          </p:cNvPr>
          <p:cNvSpPr txBox="1"/>
          <p:nvPr/>
        </p:nvSpPr>
        <p:spPr>
          <a:xfrm>
            <a:off x="298174" y="1912199"/>
            <a:ext cx="32600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/>
              <a:t>Chatbot for Dashboard Queries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21B4DC-C3B7-5248-2BC7-3A3BC2F554DE}"/>
              </a:ext>
            </a:extLst>
          </p:cNvPr>
          <p:cNvSpPr txBox="1"/>
          <p:nvPr/>
        </p:nvSpPr>
        <p:spPr>
          <a:xfrm>
            <a:off x="4343400" y="1903052"/>
            <a:ext cx="32600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/>
              <a:t>Weekly Insight Generator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82E7E6-4241-669B-37F9-FE7B07B756CF}"/>
              </a:ext>
            </a:extLst>
          </p:cNvPr>
          <p:cNvSpPr txBox="1"/>
          <p:nvPr/>
        </p:nvSpPr>
        <p:spPr>
          <a:xfrm>
            <a:off x="8279296" y="1893905"/>
            <a:ext cx="32600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/>
              <a:t>Review Step for Accuracy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ACC2D0-4A2F-4E44-5AC8-C169EC7D7BC1}"/>
              </a:ext>
            </a:extLst>
          </p:cNvPr>
          <p:cNvSpPr txBox="1"/>
          <p:nvPr/>
        </p:nvSpPr>
        <p:spPr>
          <a:xfrm>
            <a:off x="298174" y="3242770"/>
            <a:ext cx="3260035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/>
              <a:t>Users can ask: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/>
              <a:t>“What changed this week?”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/>
              <a:t>“Which region performed best?”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/>
              <a:t>“Why did this metric drop?”</a:t>
            </a:r>
          </a:p>
          <a:p>
            <a:endParaRPr lang="en-US" sz="1500" dirty="0"/>
          </a:p>
          <a:p>
            <a:r>
              <a:rPr lang="en-US" sz="1500" dirty="0"/>
              <a:t>The bot answers using </a:t>
            </a:r>
            <a:r>
              <a:rPr lang="en-US" sz="1500" b="1" dirty="0"/>
              <a:t>Excel data + metric definitions</a:t>
            </a:r>
            <a:r>
              <a:rPr lang="en-US" sz="1500" dirty="0"/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600A30-0C21-CD48-F818-C86E13630512}"/>
              </a:ext>
            </a:extLst>
          </p:cNvPr>
          <p:cNvSpPr txBox="1"/>
          <p:nvPr/>
        </p:nvSpPr>
        <p:spPr>
          <a:xfrm>
            <a:off x="4465982" y="3242769"/>
            <a:ext cx="3260035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/>
              <a:t>A button to generate: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/>
              <a:t>Executive-style summary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/>
              <a:t>Key highlights &amp; trends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/>
              <a:t>Downloadable </a:t>
            </a:r>
            <a:r>
              <a:rPr lang="en-US" sz="1500" b="1" dirty="0"/>
              <a:t>PDF / Word</a:t>
            </a:r>
            <a:r>
              <a:rPr lang="en-US" sz="1500" dirty="0"/>
              <a:t> report</a:t>
            </a:r>
          </a:p>
          <a:p>
            <a:endParaRPr lang="en-US" sz="1500" dirty="0"/>
          </a:p>
          <a:p>
            <a:r>
              <a:rPr lang="en-US" sz="1500" dirty="0"/>
              <a:t>Uses a pre-defined weekly template so outputs stay consistent and repeatable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B9C7B0-246C-A714-329B-48A247D1512C}"/>
              </a:ext>
            </a:extLst>
          </p:cNvPr>
          <p:cNvSpPr txBox="1"/>
          <p:nvPr/>
        </p:nvSpPr>
        <p:spPr>
          <a:xfrm>
            <a:off x="8279296" y="3196942"/>
            <a:ext cx="326003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/>
              <a:t>A simple AI-based check to: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/>
              <a:t>Verify numbers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/>
              <a:t>Ensure summaries match Excel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/>
              <a:t>Avoid wrong or misleading 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500" dirty="0"/>
          </a:p>
          <a:p>
            <a:r>
              <a:rPr lang="en-US" sz="1500" dirty="0"/>
              <a:t>Acts as a lightweight QA gate before showing content to users or exporting reports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266045-BEBD-5B6F-059A-E976ED735288}"/>
              </a:ext>
            </a:extLst>
          </p:cNvPr>
          <p:cNvSpPr txBox="1"/>
          <p:nvPr/>
        </p:nvSpPr>
        <p:spPr>
          <a:xfrm>
            <a:off x="168965" y="6071535"/>
            <a:ext cx="112510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/>
              <a:t>POC focuses on insight generation, usability and seamless integration with the existing dashboard</a:t>
            </a:r>
            <a:endParaRPr lang="en-IN" sz="2000" i="1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6B974978-8960-34A2-CA77-66B9FC2A1C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61491" y="2363702"/>
            <a:ext cx="533400" cy="5334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67B945C0-481B-83AA-99F4-0FFD4EC603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06717" y="2363702"/>
            <a:ext cx="533400" cy="533400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B0D8B2F7-F577-EF07-DD28-0254D88301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751943" y="2363702"/>
            <a:ext cx="533400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5349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BB23F7-5653-7186-EDF5-B4B137B7A13D}"/>
              </a:ext>
            </a:extLst>
          </p:cNvPr>
          <p:cNvSpPr txBox="1"/>
          <p:nvPr/>
        </p:nvSpPr>
        <p:spPr>
          <a:xfrm>
            <a:off x="99391" y="178904"/>
            <a:ext cx="119667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AI-Powered Insights for Our Dashboard</a:t>
            </a:r>
            <a:endParaRPr lang="en-IN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F2F46E-98E0-B821-50FC-EE8FCCF80A91}"/>
              </a:ext>
            </a:extLst>
          </p:cNvPr>
          <p:cNvSpPr txBox="1"/>
          <p:nvPr/>
        </p:nvSpPr>
        <p:spPr>
          <a:xfrm>
            <a:off x="99391" y="1062215"/>
            <a:ext cx="112510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Adding a chatbot and automated reports on top of our existing Excel-based dashboard</a:t>
            </a:r>
            <a:endParaRPr lang="en-IN" sz="200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7C46375-2F00-EB93-FE2D-65D5244483D3}"/>
              </a:ext>
            </a:extLst>
          </p:cNvPr>
          <p:cNvSpPr/>
          <p:nvPr/>
        </p:nvSpPr>
        <p:spPr>
          <a:xfrm>
            <a:off x="407504" y="3429000"/>
            <a:ext cx="1520687" cy="59634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Dashboard</a:t>
            </a:r>
            <a:endParaRPr lang="en-IN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C63CA24-4EC6-2A4B-2BA6-DC9854503EDF}"/>
              </a:ext>
            </a:extLst>
          </p:cNvPr>
          <p:cNvSpPr/>
          <p:nvPr/>
        </p:nvSpPr>
        <p:spPr>
          <a:xfrm>
            <a:off x="2743198" y="3428999"/>
            <a:ext cx="1520687" cy="59634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Backend API</a:t>
            </a:r>
            <a:endParaRPr lang="en-IN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3A26F5F-571D-3001-0458-A431B1B7D428}"/>
              </a:ext>
            </a:extLst>
          </p:cNvPr>
          <p:cNvSpPr/>
          <p:nvPr/>
        </p:nvSpPr>
        <p:spPr>
          <a:xfrm>
            <a:off x="5078895" y="3429000"/>
            <a:ext cx="1520687" cy="59634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Review Agent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B164D56-E661-D339-AADD-D20AD3CAB6EB}"/>
              </a:ext>
            </a:extLst>
          </p:cNvPr>
          <p:cNvSpPr/>
          <p:nvPr/>
        </p:nvSpPr>
        <p:spPr>
          <a:xfrm>
            <a:off x="7692887" y="4403034"/>
            <a:ext cx="1520687" cy="59634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Report Agent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5E2CC66-8121-F0BD-19C6-89A9AAC1BEDD}"/>
              </a:ext>
            </a:extLst>
          </p:cNvPr>
          <p:cNvSpPr/>
          <p:nvPr/>
        </p:nvSpPr>
        <p:spPr>
          <a:xfrm>
            <a:off x="7692887" y="2547288"/>
            <a:ext cx="1520687" cy="59634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Query Agent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70F3309-722A-274C-DBDF-BF35A118E849}"/>
              </a:ext>
            </a:extLst>
          </p:cNvPr>
          <p:cNvCxnSpPr>
            <a:stCxn id="6" idx="3"/>
            <a:endCxn id="7" idx="1"/>
          </p:cNvCxnSpPr>
          <p:nvPr/>
        </p:nvCxnSpPr>
        <p:spPr>
          <a:xfrm flipV="1">
            <a:off x="1928191" y="3727173"/>
            <a:ext cx="81500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DA38298-10CA-D585-BBCE-BF82F9624B86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4263885" y="3727173"/>
            <a:ext cx="81501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F63B209-6579-79BF-F1C9-1C072425367E}"/>
              </a:ext>
            </a:extLst>
          </p:cNvPr>
          <p:cNvCxnSpPr>
            <a:stCxn id="8" idx="3"/>
          </p:cNvCxnSpPr>
          <p:nvPr/>
        </p:nvCxnSpPr>
        <p:spPr>
          <a:xfrm flipV="1">
            <a:off x="6599582" y="3727173"/>
            <a:ext cx="566531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0643D9B-C4FD-F315-BB2A-B96EDC40D685}"/>
              </a:ext>
            </a:extLst>
          </p:cNvPr>
          <p:cNvCxnSpPr>
            <a:cxnSpLocks/>
          </p:cNvCxnSpPr>
          <p:nvPr/>
        </p:nvCxnSpPr>
        <p:spPr>
          <a:xfrm>
            <a:off x="7166113" y="2845461"/>
            <a:ext cx="0" cy="18557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B31443F-034D-45B5-7CD7-D468AE0002A6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7166113" y="2845462"/>
            <a:ext cx="52677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207BE2C-03B8-63BC-99C1-370EF690F7CF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7166113" y="4701208"/>
            <a:ext cx="52677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F977EC03-7057-6608-6B7E-7D55D4F5F018}"/>
              </a:ext>
            </a:extLst>
          </p:cNvPr>
          <p:cNvSpPr txBox="1"/>
          <p:nvPr/>
        </p:nvSpPr>
        <p:spPr>
          <a:xfrm>
            <a:off x="439804" y="4244007"/>
            <a:ext cx="148838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500" dirty="0"/>
              <a:t>User / Button 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593B9CA-A5B1-36CA-06F9-1714EA7546CA}"/>
              </a:ext>
            </a:extLst>
          </p:cNvPr>
          <p:cNvSpPr txBox="1"/>
          <p:nvPr/>
        </p:nvSpPr>
        <p:spPr>
          <a:xfrm>
            <a:off x="2566780" y="4244007"/>
            <a:ext cx="16971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600" dirty="0"/>
              <a:t>triggers AI workflows</a:t>
            </a:r>
            <a:endParaRPr lang="en-IN" sz="15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4C5439F-0840-A50E-27CC-C3DE13C9B843}"/>
              </a:ext>
            </a:extLst>
          </p:cNvPr>
          <p:cNvSpPr txBox="1"/>
          <p:nvPr/>
        </p:nvSpPr>
        <p:spPr>
          <a:xfrm>
            <a:off x="5078895" y="4221534"/>
            <a:ext cx="169710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500" dirty="0"/>
              <a:t>Checks accuracy &amp; consistency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D02C1B8-453B-04CA-C8C2-4A35CE7022D9}"/>
              </a:ext>
            </a:extLst>
          </p:cNvPr>
          <p:cNvSpPr txBox="1"/>
          <p:nvPr/>
        </p:nvSpPr>
        <p:spPr>
          <a:xfrm>
            <a:off x="9365146" y="2509903"/>
            <a:ext cx="282685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IN" sz="1400" dirty="0"/>
              <a:t>Fetches required Excel data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IN" sz="1400" dirty="0"/>
              <a:t>Answers user questions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/>
              <a:t>Chat responses shown in the dashboard</a:t>
            </a:r>
            <a:endParaRPr lang="en-IN" sz="14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F948C40-A755-93D9-C16E-87B4DE6D95C3}"/>
              </a:ext>
            </a:extLst>
          </p:cNvPr>
          <p:cNvSpPr txBox="1"/>
          <p:nvPr/>
        </p:nvSpPr>
        <p:spPr>
          <a:xfrm>
            <a:off x="9448802" y="4445383"/>
            <a:ext cx="261730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IN" sz="1400" dirty="0"/>
              <a:t>Fetches required Excel data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IN" sz="1400" dirty="0"/>
              <a:t>Generates report content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/>
              <a:t>Weekly report downloadable as PDF / Word or sent via email</a:t>
            </a:r>
            <a:endParaRPr lang="en-IN" sz="1400" dirty="0"/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3947D683-CF56-72C9-DFEC-3873802445B0}"/>
              </a:ext>
            </a:extLst>
          </p:cNvPr>
          <p:cNvSpPr/>
          <p:nvPr/>
        </p:nvSpPr>
        <p:spPr>
          <a:xfrm>
            <a:off x="4671390" y="1727200"/>
            <a:ext cx="7394714" cy="37287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DA0B868-69D4-4573-916F-B753332E201C}"/>
              </a:ext>
            </a:extLst>
          </p:cNvPr>
          <p:cNvSpPr txBox="1"/>
          <p:nvPr/>
        </p:nvSpPr>
        <p:spPr>
          <a:xfrm>
            <a:off x="6882847" y="1908887"/>
            <a:ext cx="3545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u="sng" dirty="0"/>
              <a:t>Agentic Architecture</a:t>
            </a:r>
            <a:endParaRPr lang="en-IN" u="sng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492B886-A4BA-A0AA-34FD-C26B06FE00B4}"/>
              </a:ext>
            </a:extLst>
          </p:cNvPr>
          <p:cNvSpPr txBox="1"/>
          <p:nvPr/>
        </p:nvSpPr>
        <p:spPr>
          <a:xfrm>
            <a:off x="168965" y="6071535"/>
            <a:ext cx="112510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/>
              <a:t>This solution highlights how AI can simplify analysis and accelerate insight generation for dashboard users.</a:t>
            </a:r>
          </a:p>
        </p:txBody>
      </p:sp>
    </p:spTree>
    <p:extLst>
      <p:ext uri="{BB962C8B-B14F-4D97-AF65-F5344CB8AC3E}">
        <p14:creationId xmlns:p14="http://schemas.microsoft.com/office/powerpoint/2010/main" val="32723540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6867765-4BD9-D99C-F91F-7B6522710383}"/>
              </a:ext>
            </a:extLst>
          </p:cNvPr>
          <p:cNvSpPr txBox="1"/>
          <p:nvPr/>
        </p:nvSpPr>
        <p:spPr>
          <a:xfrm>
            <a:off x="99391" y="178904"/>
            <a:ext cx="119667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dirty="0"/>
              <a:t>AI-Powered Multilingual PDF Translation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83FC32-BD0B-2431-E793-50B6D9AD9003}"/>
              </a:ext>
            </a:extLst>
          </p:cNvPr>
          <p:cNvSpPr txBox="1"/>
          <p:nvPr/>
        </p:nvSpPr>
        <p:spPr>
          <a:xfrm>
            <a:off x="99391" y="1062215"/>
            <a:ext cx="112510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Translate PDFs across languages with layout-aware re-rendering</a:t>
            </a:r>
            <a:endParaRPr lang="en-IN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101EE-3A54-8A82-2A7F-0D18BE58F873}"/>
              </a:ext>
            </a:extLst>
          </p:cNvPr>
          <p:cNvSpPr txBox="1"/>
          <p:nvPr/>
        </p:nvSpPr>
        <p:spPr>
          <a:xfrm>
            <a:off x="99391" y="2438400"/>
            <a:ext cx="1579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/>
              <a:t>Input &amp; Prep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FFBBD0-F246-4163-D830-670819577122}"/>
              </a:ext>
            </a:extLst>
          </p:cNvPr>
          <p:cNvSpPr txBox="1"/>
          <p:nvPr/>
        </p:nvSpPr>
        <p:spPr>
          <a:xfrm>
            <a:off x="2632958" y="2438400"/>
            <a:ext cx="15798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/>
              <a:t>Layout Intelligence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0F06BE-1802-2EC0-7F21-05177F45C5FC}"/>
              </a:ext>
            </a:extLst>
          </p:cNvPr>
          <p:cNvSpPr txBox="1"/>
          <p:nvPr/>
        </p:nvSpPr>
        <p:spPr>
          <a:xfrm>
            <a:off x="5166525" y="2438400"/>
            <a:ext cx="15798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/>
              <a:t>Translation Engine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B55F95-C9DD-6771-E681-138C9D10B85C}"/>
              </a:ext>
            </a:extLst>
          </p:cNvPr>
          <p:cNvSpPr txBox="1"/>
          <p:nvPr/>
        </p:nvSpPr>
        <p:spPr>
          <a:xfrm>
            <a:off x="7700092" y="2438400"/>
            <a:ext cx="1579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/>
              <a:t>Re-Rendering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3A751C-0CB6-4E08-26EB-3743E606B58A}"/>
              </a:ext>
            </a:extLst>
          </p:cNvPr>
          <p:cNvSpPr txBox="1"/>
          <p:nvPr/>
        </p:nvSpPr>
        <p:spPr>
          <a:xfrm>
            <a:off x="10233660" y="2438400"/>
            <a:ext cx="1579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/>
              <a:t>Output PDF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C34671-3A2E-386B-3896-FEA19B87E99C}"/>
              </a:ext>
            </a:extLst>
          </p:cNvPr>
          <p:cNvSpPr txBox="1"/>
          <p:nvPr/>
        </p:nvSpPr>
        <p:spPr>
          <a:xfrm>
            <a:off x="0" y="3322298"/>
            <a:ext cx="208500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400" dirty="0"/>
              <a:t>User selects PDF + source &amp; target language</a:t>
            </a:r>
          </a:p>
          <a:p>
            <a:pPr marL="285750" marR="0" lvl="0" indent="-28575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400" dirty="0"/>
              <a:t>Dynamic font embedding for target script</a:t>
            </a:r>
          </a:p>
          <a:p>
            <a:pPr marL="285750" marR="0" lvl="0" indent="-28575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400" dirty="0"/>
              <a:t>Pages converted to normalized PIXMAP images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F6B014-99AD-49B7-71C7-353FAA4DB2D3}"/>
              </a:ext>
            </a:extLst>
          </p:cNvPr>
          <p:cNvSpPr txBox="1"/>
          <p:nvPr/>
        </p:nvSpPr>
        <p:spPr>
          <a:xfrm>
            <a:off x="2388262" y="3322298"/>
            <a:ext cx="2085009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Vision model detects text blocks &amp; structure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Outputs bounding boxes, class IDs, and confidence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Coordinates extracted for layout mapping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A8811B1-867A-25D2-DBAE-EC06C8D21422}"/>
              </a:ext>
            </a:extLst>
          </p:cNvPr>
          <p:cNvSpPr txBox="1"/>
          <p:nvPr/>
        </p:nvSpPr>
        <p:spPr>
          <a:xfrm>
            <a:off x="5130469" y="3322298"/>
            <a:ext cx="2085009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400" dirty="0"/>
              <a:t>Text blocks passed to Meta NLLB-200</a:t>
            </a:r>
          </a:p>
          <a:p>
            <a:pPr marL="285750" lvl="0" indent="-28575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400" dirty="0"/>
              <a:t>Supports 200+ languages</a:t>
            </a:r>
          </a:p>
          <a:p>
            <a:pPr marL="285750" lvl="0" indent="-28575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400" dirty="0"/>
              <a:t>Preserves semantic meaning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68D7F0F-76CF-9076-3220-CA7506181519}"/>
              </a:ext>
            </a:extLst>
          </p:cNvPr>
          <p:cNvSpPr txBox="1"/>
          <p:nvPr/>
        </p:nvSpPr>
        <p:spPr>
          <a:xfrm>
            <a:off x="7518731" y="3322298"/>
            <a:ext cx="2085009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Translated text placed into original boxes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Layout and formatting preserved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Pages merged into final PDF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8C9DEA8-D304-0C5A-1774-9A9044939CB0}"/>
              </a:ext>
            </a:extLst>
          </p:cNvPr>
          <p:cNvSpPr txBox="1"/>
          <p:nvPr/>
        </p:nvSpPr>
        <p:spPr>
          <a:xfrm>
            <a:off x="9981095" y="3322298"/>
            <a:ext cx="2085009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400" dirty="0"/>
              <a:t>Preserved document structure</a:t>
            </a:r>
          </a:p>
          <a:p>
            <a:pPr marL="285750" lvl="0" indent="-28575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400" dirty="0"/>
              <a:t>Multilingual output</a:t>
            </a:r>
          </a:p>
          <a:p>
            <a:pPr marL="285750" lvl="0" indent="-28575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400" dirty="0"/>
              <a:t>Fully automated pipeline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59AEDCED-58BB-3BB9-1992-48B449BDDA55}"/>
              </a:ext>
            </a:extLst>
          </p:cNvPr>
          <p:cNvSpPr/>
          <p:nvPr/>
        </p:nvSpPr>
        <p:spPr>
          <a:xfrm>
            <a:off x="233680" y="1958056"/>
            <a:ext cx="11744960" cy="165384"/>
          </a:xfrm>
          <a:prstGeom prst="rightArrow">
            <a:avLst>
              <a:gd name="adj1" fmla="val 50000"/>
              <a:gd name="adj2" fmla="val 164370"/>
            </a:avLst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49ED3BC-5FA4-1AA8-61F0-73EF91536F27}"/>
              </a:ext>
            </a:extLst>
          </p:cNvPr>
          <p:cNvCxnSpPr/>
          <p:nvPr/>
        </p:nvCxnSpPr>
        <p:spPr>
          <a:xfrm>
            <a:off x="2184400" y="2631440"/>
            <a:ext cx="0" cy="299720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300109C-0DCD-EECA-9839-AA72AC15785F}"/>
              </a:ext>
            </a:extLst>
          </p:cNvPr>
          <p:cNvCxnSpPr/>
          <p:nvPr/>
        </p:nvCxnSpPr>
        <p:spPr>
          <a:xfrm>
            <a:off x="4856480" y="2600960"/>
            <a:ext cx="0" cy="299720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0EFB284-5ADC-4D4D-1E83-77B1D33340BB}"/>
              </a:ext>
            </a:extLst>
          </p:cNvPr>
          <p:cNvCxnSpPr/>
          <p:nvPr/>
        </p:nvCxnSpPr>
        <p:spPr>
          <a:xfrm>
            <a:off x="7315200" y="2519680"/>
            <a:ext cx="0" cy="299720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9E196F9-900E-1EE6-073F-BC02A84C05A3}"/>
              </a:ext>
            </a:extLst>
          </p:cNvPr>
          <p:cNvCxnSpPr/>
          <p:nvPr/>
        </p:nvCxnSpPr>
        <p:spPr>
          <a:xfrm>
            <a:off x="9784080" y="2438400"/>
            <a:ext cx="0" cy="299720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B9E96976-C341-53B3-51F0-731D87D6164B}"/>
              </a:ext>
            </a:extLst>
          </p:cNvPr>
          <p:cNvSpPr txBox="1"/>
          <p:nvPr/>
        </p:nvSpPr>
        <p:spPr>
          <a:xfrm>
            <a:off x="9579419" y="5563703"/>
            <a:ext cx="2399277" cy="1015663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marR="0" algn="ctr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1200" u="sng" dirty="0"/>
              <a:t>Limitations</a:t>
            </a:r>
          </a:p>
          <a:p>
            <a:pPr marL="285750" marR="0" indent="-28575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200" dirty="0"/>
              <a:t>Text overflow/layout distortion</a:t>
            </a:r>
          </a:p>
          <a:p>
            <a:pPr marL="285750" marR="0" indent="-28575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200" dirty="0"/>
              <a:t>Proper noun translation errors</a:t>
            </a:r>
          </a:p>
          <a:p>
            <a:pPr marL="285750" marR="0" indent="-28575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200" dirty="0"/>
              <a:t>No OCR support for scanned PDFs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7480C6D-30B7-904E-C2F3-4E366D84F13E}"/>
              </a:ext>
            </a:extLst>
          </p:cNvPr>
          <p:cNvSpPr txBox="1"/>
          <p:nvPr/>
        </p:nvSpPr>
        <p:spPr>
          <a:xfrm>
            <a:off x="168965" y="6071535"/>
            <a:ext cx="112510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/>
              <a:t>Supports scalable batch translation for structured, digitally-native PDFs</a:t>
            </a:r>
          </a:p>
        </p:txBody>
      </p:sp>
    </p:spTree>
    <p:extLst>
      <p:ext uri="{BB962C8B-B14F-4D97-AF65-F5344CB8AC3E}">
        <p14:creationId xmlns:p14="http://schemas.microsoft.com/office/powerpoint/2010/main" val="3251869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347</Words>
  <Application>Microsoft Office PowerPoint</Application>
  <PresentationFormat>Widescreen</PresentationFormat>
  <Paragraphs>69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Hemanth Hemanth</dc:creator>
  <cp:lastModifiedBy>Hemanth Hemanth</cp:lastModifiedBy>
  <cp:revision>1</cp:revision>
  <dcterms:created xsi:type="dcterms:W3CDTF">2026-01-19T17:53:49Z</dcterms:created>
  <dcterms:modified xsi:type="dcterms:W3CDTF">2026-01-19T17:53:58Z</dcterms:modified>
</cp:coreProperties>
</file>